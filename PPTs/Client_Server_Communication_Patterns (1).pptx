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7.png"/><Relationship Id="rId9" Type="http://schemas.openxmlformats.org/officeDocument/2006/relationships/image" Target="../media/image-2-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6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5720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786384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1115568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444752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21824" y="45720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786384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21824" y="1115568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21824" y="1444752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351008" y="45720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351008" y="786384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351008" y="1115568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51008" y="1444752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80192" y="45720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80192" y="786384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80192" y="1115568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680192" y="1444752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009376" y="45720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009376" y="786384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009376" y="1115568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009376" y="1444752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338560" y="457200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338560" y="786384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338560" y="1115568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338560" y="1444752"/>
            <a:ext cx="45720" cy="4572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CLIENT–SERVER COMMUNICATION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18745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Client–Server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Patterns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822960" y="3657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clients and servers exchange messages — and how to choose the right pattern for speed, reliability, and real-time needs.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22960" y="461772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617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03920" y="461772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0B3D91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17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788920" y="4892040"/>
            <a:ext cx="5669280" cy="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  <a:headEnd type="triangl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2788920" y="4965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pattern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" y="5806440"/>
            <a:ext cx="457200" cy="45720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pic>
        <p:nvPicPr>
          <p:cNvPr id="36" name="Image 0" descr="/home/claude/csc/icons/glob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5907024"/>
            <a:ext cx="256032" cy="256032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389888" y="580644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browsing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3566160" y="5806440"/>
            <a:ext cx="457200" cy="45720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pic>
        <p:nvPicPr>
          <p:cNvPr id="39" name="Image 1" descr="/home/claude/csc/icons/c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5907024"/>
            <a:ext cx="256032" cy="256032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4133088" y="580644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shopping</a:t>
            </a:r>
            <a:endParaRPr lang="en-US" sz="1250" dirty="0"/>
          </a:p>
        </p:txBody>
      </p:sp>
      <p:sp>
        <p:nvSpPr>
          <p:cNvPr id="41" name="Shape 37"/>
          <p:cNvSpPr/>
          <p:nvPr/>
        </p:nvSpPr>
        <p:spPr>
          <a:xfrm>
            <a:off x="6309360" y="5806440"/>
            <a:ext cx="457200" cy="45720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pic>
        <p:nvPicPr>
          <p:cNvPr id="42" name="Image 2" descr="/home/claude/csc/icons/cha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5907024"/>
            <a:ext cx="256032" cy="256032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876288" y="580644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</a:t>
            </a:r>
            <a:endParaRPr lang="en-US" sz="1250" dirty="0"/>
          </a:p>
        </p:txBody>
      </p:sp>
      <p:sp>
        <p:nvSpPr>
          <p:cNvPr id="44" name="Shape 39"/>
          <p:cNvSpPr/>
          <p:nvPr/>
        </p:nvSpPr>
        <p:spPr>
          <a:xfrm>
            <a:off x="9052560" y="5806440"/>
            <a:ext cx="457200" cy="45720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pic>
        <p:nvPicPr>
          <p:cNvPr id="45" name="Image 3" descr="/home/claude/csc/icons/pla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3144" y="5907024"/>
            <a:ext cx="256032" cy="256032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9619488" y="580644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88720" y="34747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Request–Response Pattern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8412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sends a request; the server processes it and returns a single response.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25400" dir="5400000">
              <a:srgbClr val="8AA0B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212598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pic>
        <p:nvPicPr>
          <p:cNvPr id="7" name="Image 0" descr="/home/claude/csc/icons/pho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22357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6563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503920" y="212598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0B3D91"/>
          </a:solidFill>
          <a:ln/>
        </p:spPr>
      </p:sp>
      <p:pic>
        <p:nvPicPr>
          <p:cNvPr id="10" name="Image 1" descr="/home/claude/csc/icons/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23570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3920" y="26563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291840" y="2382012"/>
            <a:ext cx="4937760" cy="0"/>
          </a:xfrm>
          <a:prstGeom prst="line">
            <a:avLst/>
          </a:prstGeom>
          <a:noFill/>
          <a:ln w="28575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3" name="Text 9"/>
          <p:cNvSpPr/>
          <p:nvPr/>
        </p:nvSpPr>
        <p:spPr>
          <a:xfrm>
            <a:off x="3291840" y="20711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2784348"/>
            <a:ext cx="-4937760" cy="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3291840" y="28757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91840" y="31775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 →  one response, then the connection is done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402336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4224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68680" y="4681728"/>
            <a:ext cx="329184" cy="329184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pic>
        <p:nvPicPr>
          <p:cNvPr id="20" name="Image 2" descr="/home/claude/csc/icons/globe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754880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16736" y="468172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website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68680" y="5084064"/>
            <a:ext cx="329184" cy="329184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pic>
        <p:nvPicPr>
          <p:cNvPr id="23" name="Image 3" descr="/home/claude/csc/icons/lock_1C729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157216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16736" y="508406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into an application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868680" y="5486400"/>
            <a:ext cx="329184" cy="329184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pic>
        <p:nvPicPr>
          <p:cNvPr id="26" name="Image 4" descr="/home/claude/csc/icons/cart_1C729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559552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16736" y="548640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products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68680" y="5888736"/>
            <a:ext cx="329184" cy="329184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pic>
        <p:nvPicPr>
          <p:cNvPr id="29" name="Image 5" descr="/home/claude/csc/icons/check_1C729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961888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316736" y="588873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account balance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6217920" y="402336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0B3D91"/>
          </a:solidFill>
          <a:ln/>
        </p:spPr>
      </p:sp>
      <p:sp>
        <p:nvSpPr>
          <p:cNvPr id="32" name="Text 24"/>
          <p:cNvSpPr/>
          <p:nvPr/>
        </p:nvSpPr>
        <p:spPr>
          <a:xfrm>
            <a:off x="6537960" y="4224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pic>
        <p:nvPicPr>
          <p:cNvPr id="33" name="Image 6" descr="/home/claude/csc/icons/check_F4A30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4727448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03720" y="47091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easy to implement</a:t>
            </a:r>
            <a:endParaRPr lang="en-US" sz="1350" dirty="0"/>
          </a:p>
        </p:txBody>
      </p:sp>
      <p:pic>
        <p:nvPicPr>
          <p:cNvPr id="35" name="Image 7" descr="/home/claude/csc/icons/check_F4A30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5230368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903720" y="5212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for most web applications</a:t>
            </a:r>
            <a:endParaRPr lang="en-US" sz="1350" dirty="0"/>
          </a:p>
        </p:txBody>
      </p:sp>
      <p:pic>
        <p:nvPicPr>
          <p:cNvPr id="37" name="Image 8" descr="/home/claude/csc/icons/check_F4A30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5733288"/>
            <a:ext cx="219456" cy="219456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903720" y="5715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and scalable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88720" y="34747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&amp; Streaming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8412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patterns for when a single request/response round-trip isn't the right shape.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csc/icons/arrowRigh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013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691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One-Way Communication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sends information without waiting for a response.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29260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926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29260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0B3D91"/>
          </a:solidFill>
          <a:ln/>
        </p:spPr>
      </p:sp>
      <p:sp>
        <p:nvSpPr>
          <p:cNvPr id="13" name="Text 10"/>
          <p:cNvSpPr/>
          <p:nvPr/>
        </p:nvSpPr>
        <p:spPr>
          <a:xfrm>
            <a:off x="4297680" y="2926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331720" y="3246120"/>
            <a:ext cx="1965960" cy="0"/>
          </a:xfrm>
          <a:prstGeom prst="line">
            <a:avLst/>
          </a:prstGeom>
          <a:noFill/>
          <a:ln w="28575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2331720" y="33101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(fire-and-forget)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22960" y="3840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6240"/>
            <a:ext cx="347472" cy="347472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pic>
        <p:nvPicPr>
          <p:cNvPr id="18" name="Image 1" descr="/home/claude/csc/icons/activity_1C729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4288536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98448" y="42062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logging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22960" y="4663440"/>
            <a:ext cx="347472" cy="347472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pic>
        <p:nvPicPr>
          <p:cNvPr id="21" name="Image 2" descr="/home/claude/csc/icons/trend_1C729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745736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98448" y="46634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events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22960" y="5120640"/>
            <a:ext cx="347472" cy="347472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pic>
        <p:nvPicPr>
          <p:cNvPr id="24" name="Image 3" descr="/home/claude/csc/icons/radio_1C729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202936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98448" y="51206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data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6217920" y="1417320"/>
            <a:ext cx="539496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76200" dist="25400" dir="5400000">
              <a:srgbClr val="8AA0B0">
                <a:alpha val="2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92240" y="1691640"/>
            <a:ext cx="457200" cy="457200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28" name="Image 4" descr="/home/claude/csc/icons/repea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180136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86600" y="1691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 Communication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6492240" y="2286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continuously sends data after the client requests it.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6492240" y="29260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32" name="Text 25"/>
          <p:cNvSpPr/>
          <p:nvPr/>
        </p:nvSpPr>
        <p:spPr>
          <a:xfrm>
            <a:off x="6492240" y="2926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9966960" y="29260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0B3D91"/>
          </a:solidFill>
          <a:ln/>
        </p:spPr>
      </p:sp>
      <p:sp>
        <p:nvSpPr>
          <p:cNvPr id="34" name="Text 27"/>
          <p:cNvSpPr/>
          <p:nvPr/>
        </p:nvSpPr>
        <p:spPr>
          <a:xfrm>
            <a:off x="9966960" y="29260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001000" y="3108960"/>
            <a:ext cx="1965960" cy="0"/>
          </a:xfrm>
          <a:prstGeom prst="line">
            <a:avLst/>
          </a:prstGeom>
          <a:noFill/>
          <a:ln w="19050">
            <a:solidFill>
              <a:srgbClr val="AAB8C4"/>
            </a:solidFill>
            <a:prstDash val="solid"/>
            <a:tailEnd type="triangle"/>
          </a:ln>
        </p:spPr>
      </p:sp>
      <p:sp>
        <p:nvSpPr>
          <p:cNvPr id="36" name="Text 29"/>
          <p:cNvSpPr/>
          <p:nvPr/>
        </p:nvSpPr>
        <p:spPr>
          <a:xfrm>
            <a:off x="8001000" y="2852928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9829800" y="3310128"/>
            <a:ext cx="-1965960" cy="0"/>
          </a:xfrm>
          <a:prstGeom prst="line">
            <a:avLst/>
          </a:prstGeom>
          <a:noFill/>
          <a:ln w="25400">
            <a:solidFill>
              <a:srgbClr val="F4A300"/>
            </a:solidFill>
            <a:prstDash val="dash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9829800" y="3429000"/>
            <a:ext cx="-1965960" cy="0"/>
          </a:xfrm>
          <a:prstGeom prst="line">
            <a:avLst/>
          </a:prstGeom>
          <a:noFill/>
          <a:ln w="25400">
            <a:solidFill>
              <a:srgbClr val="F4A300"/>
            </a:solidFill>
            <a:prstDash val="dash"/>
            <a:tailEnd type="triangle"/>
          </a:ln>
        </p:spPr>
      </p:sp>
      <p:sp>
        <p:nvSpPr>
          <p:cNvPr id="39" name="Shape 32"/>
          <p:cNvSpPr/>
          <p:nvPr/>
        </p:nvSpPr>
        <p:spPr>
          <a:xfrm>
            <a:off x="9829800" y="3547872"/>
            <a:ext cx="-1965960" cy="0"/>
          </a:xfrm>
          <a:prstGeom prst="line">
            <a:avLst/>
          </a:prstGeom>
          <a:noFill/>
          <a:ln w="25400">
            <a:solidFill>
              <a:srgbClr val="F4A300"/>
            </a:solidFill>
            <a:prstDash val="dash"/>
            <a:tailEnd type="triangle"/>
          </a:ln>
        </p:spPr>
      </p:sp>
      <p:sp>
        <p:nvSpPr>
          <p:cNvPr id="40" name="Text 33"/>
          <p:cNvSpPr/>
          <p:nvPr/>
        </p:nvSpPr>
        <p:spPr>
          <a:xfrm>
            <a:off x="8001000" y="36118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6492240" y="39776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6492240" y="4343400"/>
            <a:ext cx="347472" cy="347472"/>
          </a:xfrm>
          <a:prstGeom prst="ellipse">
            <a:avLst/>
          </a:prstGeom>
          <a:solidFill>
            <a:srgbClr val="0B3D91">
              <a:alpha val="12000"/>
            </a:srgbClr>
          </a:solidFill>
          <a:ln/>
        </p:spPr>
      </p:sp>
      <p:pic>
        <p:nvPicPr>
          <p:cNvPr id="43" name="Image 5" descr="/home/claude/csc/icons/play_0B3D9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4425696"/>
            <a:ext cx="182880" cy="1828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967728" y="43434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sports scores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6492240" y="4800600"/>
            <a:ext cx="347472" cy="347472"/>
          </a:xfrm>
          <a:prstGeom prst="ellipse">
            <a:avLst/>
          </a:prstGeom>
          <a:solidFill>
            <a:srgbClr val="0B3D91">
              <a:alpha val="12000"/>
            </a:srgbClr>
          </a:solidFill>
          <a:ln/>
        </p:spPr>
      </p:sp>
      <p:pic>
        <p:nvPicPr>
          <p:cNvPr id="46" name="Image 6" descr="/home/claude/csc/icons/play_0B3D9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4882896"/>
            <a:ext cx="182880" cy="18288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6967728" y="48006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streaming</a:t>
            </a:r>
            <a:endParaRPr lang="en-US" sz="1300" dirty="0"/>
          </a:p>
        </p:txBody>
      </p:sp>
      <p:sp>
        <p:nvSpPr>
          <p:cNvPr id="48" name="Shape 39"/>
          <p:cNvSpPr/>
          <p:nvPr/>
        </p:nvSpPr>
        <p:spPr>
          <a:xfrm>
            <a:off x="6492240" y="5257800"/>
            <a:ext cx="347472" cy="347472"/>
          </a:xfrm>
          <a:prstGeom prst="ellipse">
            <a:avLst/>
          </a:prstGeom>
          <a:solidFill>
            <a:srgbClr val="0B3D91">
              <a:alpha val="12000"/>
            </a:srgbClr>
          </a:solidFill>
          <a:ln/>
        </p:spPr>
      </p:sp>
      <p:pic>
        <p:nvPicPr>
          <p:cNvPr id="49" name="Image 7" descr="/home/claude/csc/icons/trend_0B3D9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536" y="5340096"/>
            <a:ext cx="182880" cy="18288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6967728" y="52578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updates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188720" y="34747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Full-Duplex (WebSocket) Pattern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88720" y="8412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server can both send and receive messages at any time, over the same open connection.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1329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212598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1C7293"/>
          </a:solidFill>
          <a:ln/>
        </p:spPr>
      </p:sp>
      <p:pic>
        <p:nvPicPr>
          <p:cNvPr id="7" name="Image 0" descr="/home/claude/csc/icons/pho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2539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6929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0" y="2125980"/>
            <a:ext cx="1828800" cy="960120"/>
          </a:xfrm>
          <a:prstGeom prst="roundRect">
            <a:avLst>
              <a:gd name="adj" fmla="val 9524"/>
            </a:avLst>
          </a:prstGeom>
          <a:solidFill>
            <a:srgbClr val="F4A300"/>
          </a:solidFill>
          <a:ln/>
        </p:spPr>
      </p:sp>
      <p:pic>
        <p:nvPicPr>
          <p:cNvPr id="10" name="Image 1" descr="/home/claude/csc/icons/server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2539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0" y="26929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429000" y="2455164"/>
            <a:ext cx="4572000" cy="301752"/>
          </a:xfrm>
          <a:prstGeom prst="roundRect">
            <a:avLst>
              <a:gd name="adj" fmla="val 48485"/>
            </a:avLst>
          </a:prstGeom>
          <a:solidFill>
            <a:srgbClr val="24406B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11880" y="2537460"/>
            <a:ext cx="42062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818120" y="2674620"/>
            <a:ext cx="-4206240" cy="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3429000" y="31775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persistent, two-way connection</a:t>
            </a:r>
            <a:endParaRPr lang="en-US" sz="1050" dirty="0"/>
          </a:p>
        </p:txBody>
      </p:sp>
      <p:pic>
        <p:nvPicPr>
          <p:cNvPr id="16" name="Image 2" descr="/home/claude/csc/icons/wifi_F4A3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741932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" y="397764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1329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197096"/>
            <a:ext cx="420624" cy="420624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9" name="Image 3" descr="/home/claude/csc/icons/zap_0B1F3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297680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39776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communication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251960" y="397764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1329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480560" y="4197096"/>
            <a:ext cx="420624" cy="420624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3" name="Image 4" descr="/home/claude/csc/icons/trend_0B1F3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429768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29200" y="39776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7955280" y="397764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1329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183880" y="4197096"/>
            <a:ext cx="420624" cy="420624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7" name="Image 5" descr="/home/claude/csc/icons/repeat_0B1F3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4" y="4297680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732520" y="39776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for frequent updates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48640" y="5074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548640" y="5440680"/>
            <a:ext cx="2674620" cy="777240"/>
          </a:xfrm>
          <a:prstGeom prst="roundRect">
            <a:avLst>
              <a:gd name="adj" fmla="val 11765"/>
            </a:avLst>
          </a:prstGeom>
          <a:solidFill>
            <a:srgbClr val="1329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31520" y="56235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6" descr="/home/claude/csc/icons/chat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5724144"/>
            <a:ext cx="210312" cy="21031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234440" y="5440680"/>
            <a:ext cx="18516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3314700" y="5440680"/>
            <a:ext cx="2674620" cy="777240"/>
          </a:xfrm>
          <a:prstGeom prst="roundRect">
            <a:avLst>
              <a:gd name="adj" fmla="val 11765"/>
            </a:avLst>
          </a:prstGeom>
          <a:solidFill>
            <a:srgbClr val="1329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3497580" y="56235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7" descr="/home/claude/csc/icons/users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8164" y="5724144"/>
            <a:ext cx="210312" cy="21031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000500" y="5440680"/>
            <a:ext cx="18516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multiplayer games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6080760" y="5440680"/>
            <a:ext cx="2674620" cy="777240"/>
          </a:xfrm>
          <a:prstGeom prst="roundRect">
            <a:avLst>
              <a:gd name="adj" fmla="val 11765"/>
            </a:avLst>
          </a:prstGeom>
          <a:solidFill>
            <a:srgbClr val="1329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6263640" y="56235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0" name="Image 8" descr="/home/claude/csc/icons/edit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224" y="5724144"/>
            <a:ext cx="210312" cy="210312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766560" y="5440680"/>
            <a:ext cx="18516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collaboration</a:t>
            </a:r>
            <a:endParaRPr lang="en-US" sz="1150" dirty="0"/>
          </a:p>
        </p:txBody>
      </p:sp>
      <p:sp>
        <p:nvSpPr>
          <p:cNvPr id="42" name="Shape 31"/>
          <p:cNvSpPr/>
          <p:nvPr/>
        </p:nvSpPr>
        <p:spPr>
          <a:xfrm>
            <a:off x="8846820" y="5440680"/>
            <a:ext cx="2674620" cy="777240"/>
          </a:xfrm>
          <a:prstGeom prst="roundRect">
            <a:avLst>
              <a:gd name="adj" fmla="val 11765"/>
            </a:avLst>
          </a:prstGeom>
          <a:solidFill>
            <a:srgbClr val="13294D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9029700" y="562356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4" name="Image 9" descr="/home/claude/csc/icons/headphones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0284" y="5724144"/>
            <a:ext cx="210312" cy="210312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9532620" y="5440680"/>
            <a:ext cx="18516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patterns, four different shapes of conversation between client and server.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1323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06240" y="1508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" y="215798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0" descr="/home/claude/csc/icons/arrowRigh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25856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01168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Request–Response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06240" y="2011680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→ one response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955280" y="2011680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REST APIs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724912"/>
            <a:ext cx="11064240" cy="713232"/>
          </a:xfrm>
          <a:prstGeom prst="rect">
            <a:avLst/>
          </a:prstGeom>
          <a:solidFill>
            <a:srgbClr val="E9F0F4"/>
          </a:solidFill>
          <a:ln/>
        </p:spPr>
      </p:sp>
      <p:sp>
        <p:nvSpPr>
          <p:cNvPr id="15" name="Shape 12"/>
          <p:cNvSpPr/>
          <p:nvPr/>
        </p:nvSpPr>
        <p:spPr>
          <a:xfrm>
            <a:off x="749808" y="2871216"/>
            <a:ext cx="420624" cy="420624"/>
          </a:xfrm>
          <a:prstGeom prst="ellipse">
            <a:avLst/>
          </a:prstGeom>
          <a:solidFill>
            <a:srgbClr val="0B3D91"/>
          </a:solidFill>
          <a:ln/>
        </p:spPr>
      </p:sp>
      <p:pic>
        <p:nvPicPr>
          <p:cNvPr id="16" name="Image 1" descr="/home/claude/csc/icons/arrowU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971800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71600" y="272491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206240" y="2724912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only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955280" y="272491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telemetry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1" name="Image 2" descr="/home/claude/csc/icons/repea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685032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71600" y="3438144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206240" y="3438144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server updates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7955280" y="3438144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video, stock prices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4151376"/>
            <a:ext cx="11064240" cy="713232"/>
          </a:xfrm>
          <a:prstGeom prst="rect">
            <a:avLst/>
          </a:prstGeom>
          <a:solidFill>
            <a:srgbClr val="E9F0F4"/>
          </a:solidFill>
          <a:ln/>
        </p:spPr>
      </p:sp>
      <p:sp>
        <p:nvSpPr>
          <p:cNvPr id="26" name="Shape 21"/>
          <p:cNvSpPr/>
          <p:nvPr/>
        </p:nvSpPr>
        <p:spPr>
          <a:xfrm>
            <a:off x="749808" y="4297680"/>
            <a:ext cx="420624" cy="420624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7" name="Image 3" descr="/home/claude/csc/icons/wifi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398264"/>
            <a:ext cx="219456" cy="2194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71600" y="4151376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206240" y="4151376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communication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955280" y="4151376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apps, gaming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548640" y="1508760"/>
            <a:ext cx="11064240" cy="3355848"/>
          </a:xfrm>
          <a:prstGeom prst="rect">
            <a:avLst/>
          </a:prstGeom>
          <a:ln w="12700">
            <a:solidFill>
              <a:srgbClr val="DCE6EC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48640" y="5184648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B3D91"/>
          </a:solidFill>
          <a:ln/>
        </p:spPr>
      </p:sp>
      <p:sp>
        <p:nvSpPr>
          <p:cNvPr id="33" name="Shape 27"/>
          <p:cNvSpPr/>
          <p:nvPr/>
        </p:nvSpPr>
        <p:spPr>
          <a:xfrm>
            <a:off x="822960" y="5385816"/>
            <a:ext cx="457200" cy="45720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34" name="Image 4" descr="/home/claude/csc/icons/check_0B1F3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504688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463040" y="518464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choose the pattern based on how data needs to flow — one-off answers, one-way signals, one-directional streams, or a live two-way conversation.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2026-07-17T09:23:17Z</dcterms:created>
  <dcterms:modified xsi:type="dcterms:W3CDTF">2026-07-17T09:23:17Z</dcterms:modified>
</cp:coreProperties>
</file>